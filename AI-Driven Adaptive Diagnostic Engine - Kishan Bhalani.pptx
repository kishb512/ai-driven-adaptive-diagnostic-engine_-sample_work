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4" r:id="rId16"/>
    <p:sldId id="273" r:id="rId17"/>
    <p:sldId id="275" r:id="rId18"/>
    <p:sldId id="276" r:id="rId19"/>
    <p:sldId id="277" r:id="rId20"/>
    <p:sldId id="278" r:id="rId21"/>
    <p:sldId id="279" r:id="rId22"/>
    <p:sldId id="270" r:id="rId23"/>
    <p:sldId id="271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0:31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23258,'0'8250'0,"28489"-8250"0,-28489-8250 0,-28489 8250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09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12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13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34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40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0:49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24539,'0'1808'0,"2838"-1808"0,-2838-1808 0,-2838 1808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1:22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24516,'0'8736'0,"26051"-8736"0,-26051-8736 0,-26051 8736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2:58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4:18:0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5352 400 24509,'-2'15'0,"-5"1"0,-3 0 0,-4-1 0,-5 1 0,-3-1 0,-5 0 0,-3 0 0,-5 0 0,-3 0 0,-4-1 0,-4 0 0,-3 0 0,-5-1 0,-2 1 0,-4-1 0,-4-1 0,-2 0 0,-4 0 0,-3-1 0,-3 0 0,-2 0 0,-4-1 0,-1-1 0,-3 0 0,-3-1 0,-2 0 0,-1 0 0,-3-1 0,-1-1 0,-2 0 0,-1-1 0,-2-1 0,0 0 0,-2 0 0,0-2 0,-2 1 0,1-2 0,-1 0 0,0-1 0,0 0 0,0-1 0,1 0 0,-1-2 0,2 1 0,0-2 0,2 0 0,0 0 0,2-1 0,1-1 0,2 0 0,1-1 0,3-1 0,1 0 0,2 0 0,3-1 0,3 0 0,1-1 0,4-1 0,2 0 0,3 0 0,3-1 0,4 0 0,2 0 0,4-1 0,4-1 0,2 1 0,5-1 0,3 0 0,4 0 0,4-1 0,3 0 0,5 0 0,3 0 0,5 0 0,3-1 0,5 1 0,4-1 0,3 0 0,5 1 0,4-1 0,5 0 0,3 1 0,4-1 0,5 1 0,3-1 0,5 1 0,3 0 0,5 0 0,3 1 0,4-1 0,4 1 0,3 0 0,5 1 0,2 0 0,4 0 0,4 0 0,2 1 0,4 0 0,3 1 0,3 0 0,2 1 0,4 0 0,1 0 0,3 1 0,3 1 0,2 0 0,1 1 0,3 0 0,1 0 0,2 2 0,1 0 0,2 0 0,0 1 0,2 1 0,0 0 0,2 1 0,-1 0 0,1 1 0,0 1 0,0 0 0,0 1 0,-1 1 0,1 0 0,-2 1 0,0 0 0,-2 1 0,0 1 0,-2 0 0,-1 0 0,-2 2 0,-1 0 0,-3 0 0,-1 1 0,-2 0 0,-3 1 0,-3 1 0,-1 0 0,-4 0 0,-2 1 0,-3 0 0,-3 1 0,-4 0 0,-2 1 0,-4 0 0,-4 0 0,-2 0 0,-5 1 0,-3 0 0,-4 1 0,-4-1 0,-3 1 0,-5 0 0,-3 0 0,-5 1 0,-3-1 0,-5 1 0,-4-1 0,-3 1 0,-5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8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10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CB44-7260-D4F0-9ABA-FD16AC120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it-IT" sz="3200" dirty="0"/>
              <a:t>AI-Driven Adaptive Diagnostic Engine</a:t>
            </a:r>
            <a:br>
              <a:rPr lang="it-IT" sz="3200" dirty="0"/>
            </a:br>
            <a:r>
              <a:rPr lang="it-IT" sz="3200" dirty="0"/>
              <a:t>1-Dimensional Adaptive Testing Prototype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6E3B4-E557-4F7E-6D69-373892B45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IN" dirty="0"/>
              <a:t>Name: Kishan Bhalani</a:t>
            </a:r>
            <a:br>
              <a:rPr lang="en-IN" dirty="0"/>
            </a:br>
            <a:r>
              <a:rPr lang="en-IN" dirty="0"/>
              <a:t>Tech Stack: Python, FastAPI, MongoDB, Groq API</a:t>
            </a:r>
          </a:p>
        </p:txBody>
      </p:sp>
    </p:spTree>
    <p:extLst>
      <p:ext uri="{BB962C8B-B14F-4D97-AF65-F5344CB8AC3E}">
        <p14:creationId xmlns:p14="http://schemas.microsoft.com/office/powerpoint/2010/main" val="316486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A998-6C89-AF2B-5C55-EB7B985C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CF1D-F559-621A-E221-85EC66419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Problem:</a:t>
            </a:r>
          </a:p>
          <a:p>
            <a:r>
              <a:rPr lang="en-US" sz="1800" dirty="0"/>
              <a:t>Most traditional quizzes give the same set of questions to every student.</a:t>
            </a:r>
            <a:br>
              <a:rPr lang="en-US" sz="1800" dirty="0"/>
            </a:br>
            <a:r>
              <a:rPr lang="en-US" sz="1800" dirty="0"/>
              <a:t>However, students have different skill levels, so a fixed quiz cannot accurately measure their true ability.</a:t>
            </a:r>
          </a:p>
          <a:p>
            <a:r>
              <a:rPr lang="en-US" sz="1800" dirty="0"/>
              <a:t>If the questions are too easy, the test does not challenge the student.</a:t>
            </a:r>
            <a:br>
              <a:rPr lang="en-US" sz="1800" dirty="0"/>
            </a:br>
            <a:r>
              <a:rPr lang="en-US" sz="1800" dirty="0"/>
              <a:t>If they are too difficult, the student may struggle and lose confidence.</a:t>
            </a:r>
          </a:p>
          <a:p>
            <a:pPr marL="0" indent="0">
              <a:buNone/>
            </a:pPr>
            <a:r>
              <a:rPr lang="en-US" sz="1800" dirty="0"/>
              <a:t>Goal:</a:t>
            </a:r>
          </a:p>
          <a:p>
            <a:r>
              <a:rPr lang="en-US" sz="1800" dirty="0"/>
              <a:t>The goal of this project is to build an </a:t>
            </a:r>
            <a:r>
              <a:rPr lang="en-US" sz="1800" b="1" dirty="0"/>
              <a:t>adaptive testing system</a:t>
            </a:r>
            <a:r>
              <a:rPr lang="en-US" sz="1800" dirty="0"/>
              <a:t> that can adjust the difficulty of questions based on the student’s performance.</a:t>
            </a:r>
          </a:p>
          <a:p>
            <a:r>
              <a:rPr lang="en-US" sz="1800" dirty="0"/>
              <a:t>By doing this, the system can better estimate the student’s ability level and identify the topics where the student needs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62240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F6ED-5D26-D0D6-9E3E-5AB2B3E6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1B66-9088-AF9D-359E-7051C565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8D1BB-0B22-7906-8B0F-061B359F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This system works by dynamically selecting questions based on how the student performs during the quiz.</a:t>
            </a:r>
          </a:p>
          <a:p>
            <a:r>
              <a:rPr lang="en-US" sz="1800" dirty="0"/>
              <a:t>First, the student starts a quiz session.</a:t>
            </a:r>
            <a:br>
              <a:rPr lang="en-US" sz="1800" dirty="0"/>
            </a:br>
            <a:r>
              <a:rPr lang="en-US" sz="1800" dirty="0"/>
              <a:t>The system selects a question based on the student’s current estimated ability level.</a:t>
            </a:r>
          </a:p>
          <a:p>
            <a:r>
              <a:rPr lang="en-US" sz="1800" dirty="0"/>
              <a:t>After the student answers the question, the system checks whether the answer is correct or incorrect.</a:t>
            </a:r>
            <a:br>
              <a:rPr lang="en-US" sz="1800" dirty="0"/>
            </a:br>
            <a:r>
              <a:rPr lang="en-US" sz="1800" dirty="0"/>
              <a:t>Based on this result, the system updates the student’s ability score.</a:t>
            </a:r>
          </a:p>
          <a:p>
            <a:r>
              <a:rPr lang="en-US" sz="1800" dirty="0"/>
              <a:t>The next question is then selected with a difficulty level that matches the updated ability score.</a:t>
            </a:r>
          </a:p>
          <a:p>
            <a:r>
              <a:rPr lang="en-US" sz="1800" dirty="0"/>
              <a:t>Once the quiz ends, the system analyzes the student’s incorrect answers and identifies weak topics.</a:t>
            </a:r>
            <a:br>
              <a:rPr lang="en-US" sz="1800" dirty="0"/>
            </a:br>
            <a:r>
              <a:rPr lang="en-US" sz="1800" dirty="0"/>
              <a:t>These weak topics are then used to generate a personalized learning plan using an AI model.</a:t>
            </a:r>
          </a:p>
        </p:txBody>
      </p:sp>
    </p:spTree>
    <p:extLst>
      <p:ext uri="{BB962C8B-B14F-4D97-AF65-F5344CB8AC3E}">
        <p14:creationId xmlns:p14="http://schemas.microsoft.com/office/powerpoint/2010/main" val="359924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D503-DDAA-7D2B-05FC-33B9DE24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DBC4-9FD7-3352-3EFB-3E5F7FEB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BA4F-B94F-452D-71CF-99B4B8C4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For this project, I used </a:t>
            </a:r>
            <a:r>
              <a:rPr lang="en-US" sz="1800" b="1" dirty="0"/>
              <a:t>Python with FastAPI</a:t>
            </a:r>
            <a:r>
              <a:rPr lang="en-US" sz="1800" dirty="0"/>
              <a:t> to build the backend API.</a:t>
            </a:r>
            <a:br>
              <a:rPr lang="en-US" sz="1800" dirty="0"/>
            </a:br>
            <a:r>
              <a:rPr lang="en-US" sz="1800" dirty="0"/>
              <a:t>FastAPI was chosen because it is lightweight, easy to use, and automatically generates interactive API documentation.</a:t>
            </a:r>
          </a:p>
          <a:p>
            <a:r>
              <a:rPr lang="en-US" sz="1800" dirty="0"/>
              <a:t>For the database, I used </a:t>
            </a:r>
            <a:r>
              <a:rPr lang="en-US" sz="1800" b="1" dirty="0"/>
              <a:t>MongoDB</a:t>
            </a:r>
            <a:r>
              <a:rPr lang="en-US" sz="1800" dirty="0"/>
              <a:t>, which is well suited for storing flexible data structures like quiz questions with metadata such as topic, difficulty, and tags.</a:t>
            </a:r>
          </a:p>
          <a:p>
            <a:r>
              <a:rPr lang="en-US" sz="1800" dirty="0"/>
              <a:t>To run the API server, I used </a:t>
            </a:r>
            <a:r>
              <a:rPr lang="en-US" sz="1800" b="1" dirty="0" err="1"/>
              <a:t>Uvicorn</a:t>
            </a:r>
            <a:r>
              <a:rPr lang="en-US" sz="1800" dirty="0"/>
              <a:t>, which is a fast ASGI server designed for Python web applications.</a:t>
            </a:r>
          </a:p>
          <a:p>
            <a:r>
              <a:rPr lang="en-US" sz="1800" dirty="0"/>
              <a:t>For the AI component, I integrated the </a:t>
            </a:r>
            <a:r>
              <a:rPr lang="en-US" sz="1800" b="1" dirty="0" err="1"/>
              <a:t>Groq</a:t>
            </a:r>
            <a:r>
              <a:rPr lang="en-US" sz="1800" b="1" dirty="0"/>
              <a:t> API</a:t>
            </a:r>
            <a:r>
              <a:rPr lang="en-US" sz="1800" dirty="0"/>
              <a:t>, which uses a large language model to generate personalized learning recommendations based on the student’s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1496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515F-C3B3-8C4C-81FD-185962C8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1621A-8C9A-6F6C-24DA-730B17D2F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stores quiz questions in a MongoDB collection.</a:t>
            </a:r>
          </a:p>
          <a:p>
            <a:r>
              <a:rPr lang="en-US" dirty="0"/>
              <a:t>Each question contains several important pieces of information such as the question text, available answer options, the correct answer, the difficulty level, and the topic.</a:t>
            </a:r>
          </a:p>
          <a:p>
            <a:r>
              <a:rPr lang="en-US" dirty="0"/>
              <a:t>The difficulty value ranges from </a:t>
            </a:r>
            <a:r>
              <a:rPr lang="en-US" b="1" dirty="0"/>
              <a:t>0.1 to 1.0</a:t>
            </a:r>
            <a:r>
              <a:rPr lang="en-US" dirty="0"/>
              <a:t>, where lower values represent easier questions and higher values represent more difficult questions.</a:t>
            </a:r>
          </a:p>
          <a:p>
            <a:r>
              <a:rPr lang="en-US" dirty="0"/>
              <a:t>This metadata allows the adaptive algorithm to select questions that are appropriate for the student’s current ability level.</a:t>
            </a:r>
          </a:p>
          <a:p>
            <a:r>
              <a:rPr lang="en-US" dirty="0"/>
              <a:t>By organizing the data in this way, the system can easily filter and retrieve questions based on difficulty and topic.</a:t>
            </a:r>
          </a:p>
        </p:txBody>
      </p:sp>
    </p:spTree>
    <p:extLst>
      <p:ext uri="{BB962C8B-B14F-4D97-AF65-F5344CB8AC3E}">
        <p14:creationId xmlns:p14="http://schemas.microsoft.com/office/powerpoint/2010/main" val="41333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881C-1A12-7CCC-16A1-2C4985B7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ACE0-B4D4-1D63-8FEE-F3B330065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track a student's progress during the quiz, the system uses a </a:t>
            </a:r>
            <a:r>
              <a:rPr lang="en-US" b="1" dirty="0" err="1"/>
              <a:t>UserSession</a:t>
            </a:r>
            <a:r>
              <a:rPr lang="en-US" b="1" dirty="0"/>
              <a:t> collection</a:t>
            </a:r>
            <a:r>
              <a:rPr lang="en-US" dirty="0"/>
              <a:t>.</a:t>
            </a:r>
          </a:p>
          <a:p>
            <a:r>
              <a:rPr lang="en-US" dirty="0"/>
              <a:t>Each session stores information such as the session ID, the student’s current ability score, and the answers submitted during the quiz.</a:t>
            </a:r>
          </a:p>
          <a:p>
            <a:r>
              <a:rPr lang="en-US" dirty="0"/>
              <a:t>The ability score represents the system’s estimate of the student’s skill level.</a:t>
            </a:r>
          </a:p>
          <a:p>
            <a:r>
              <a:rPr lang="en-US" dirty="0"/>
              <a:t>At the beginning of the quiz, the ability score starts at a neutral value.</a:t>
            </a:r>
            <a:br>
              <a:rPr lang="en-US" dirty="0"/>
            </a:br>
            <a:r>
              <a:rPr lang="en-US" dirty="0"/>
              <a:t>As the student answers questions, the score is updated based on whether the answers are correct or incorrect.</a:t>
            </a:r>
          </a:p>
          <a:p>
            <a:r>
              <a:rPr lang="en-US" dirty="0"/>
              <a:t>This allows the system to continuously adjust the difficulty of the questions being asked.</a:t>
            </a:r>
          </a:p>
        </p:txBody>
      </p:sp>
    </p:spTree>
    <p:extLst>
      <p:ext uri="{BB962C8B-B14F-4D97-AF65-F5344CB8AC3E}">
        <p14:creationId xmlns:p14="http://schemas.microsoft.com/office/powerpoint/2010/main" val="255760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60B5-83AF-2572-6ADC-ACD20BA8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Adaptive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4E8E-9FC8-8E12-821C-E071EF61B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adaptive algorithm is the core part of this system.</a:t>
            </a:r>
          </a:p>
          <a:p>
            <a:r>
              <a:rPr lang="en-US" dirty="0"/>
              <a:t>At the start of the quiz, the student begins with a </a:t>
            </a:r>
            <a:r>
              <a:rPr lang="en-US" b="1" dirty="0"/>
              <a:t>baseline ability score of 0.5</a:t>
            </a:r>
            <a:r>
              <a:rPr lang="en-US" dirty="0"/>
              <a:t>.</a:t>
            </a:r>
          </a:p>
          <a:p>
            <a:r>
              <a:rPr lang="en-US" dirty="0"/>
              <a:t>When a student answers a question correctly, it indicates that the question may have been too easy.</a:t>
            </a:r>
            <a:br>
              <a:rPr lang="en-US" dirty="0"/>
            </a:br>
            <a:r>
              <a:rPr lang="en-US" dirty="0"/>
              <a:t>In this case, the system slightly increases the ability score and selects a more difficult question next.</a:t>
            </a:r>
          </a:p>
          <a:p>
            <a:r>
              <a:rPr lang="en-US" dirty="0"/>
              <a:t>If the student answers incorrectly, it indicates that the question may have been too difficult.</a:t>
            </a:r>
            <a:br>
              <a:rPr lang="en-US" dirty="0"/>
            </a:br>
            <a:r>
              <a:rPr lang="en-US" dirty="0"/>
              <a:t>The system then decreases the ability score and selects an easier question.</a:t>
            </a:r>
          </a:p>
          <a:p>
            <a:r>
              <a:rPr lang="en-US" dirty="0"/>
              <a:t>By repeating this process, the system gradually moves toward a difficulty level that matches the student’s true 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43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C118-7CB7-9B08-C2B2-0806BAF0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Adaptive Algorithm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81E79-35D9-72AA-28D3-5EF4FA71B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begins when the student starts the quiz.</a:t>
            </a:r>
          </a:p>
          <a:p>
            <a:r>
              <a:rPr lang="en-US" dirty="0"/>
              <a:t>The system assigns an initial ability score and selects a question that matches this difficulty level.</a:t>
            </a:r>
          </a:p>
          <a:p>
            <a:r>
              <a:rPr lang="en-US" dirty="0"/>
              <a:t>The student answers the question, and the system evaluates whether the answer is correct.</a:t>
            </a:r>
          </a:p>
          <a:p>
            <a:r>
              <a:rPr lang="en-US" dirty="0"/>
              <a:t>If the answer is correct, the ability score increases slightly.</a:t>
            </a:r>
            <a:br>
              <a:rPr lang="en-US" dirty="0"/>
            </a:br>
            <a:r>
              <a:rPr lang="en-US" dirty="0"/>
              <a:t>If the answer is incorrect, the ability score decreases.</a:t>
            </a:r>
          </a:p>
          <a:p>
            <a:r>
              <a:rPr lang="en-US" dirty="0"/>
              <a:t>Based on the updated ability score, the system selects the next question with an appropriate difficulty level.</a:t>
            </a:r>
          </a:p>
          <a:p>
            <a:r>
              <a:rPr lang="en-US" dirty="0"/>
              <a:t>This process continues for several questions until the quiz session is completed.</a:t>
            </a:r>
          </a:p>
        </p:txBody>
      </p:sp>
    </p:spTree>
    <p:extLst>
      <p:ext uri="{BB962C8B-B14F-4D97-AF65-F5344CB8AC3E}">
        <p14:creationId xmlns:p14="http://schemas.microsoft.com/office/powerpoint/2010/main" val="288701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EC18-A6F2-3227-01E5-5F83E70C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Weak Topic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5AE5-FD14-1527-B039-6E53C91E4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 quiz is running, the system also keeps track of the topics where the student makes mistakes.</a:t>
            </a:r>
          </a:p>
          <a:p>
            <a:r>
              <a:rPr lang="en-US" dirty="0"/>
              <a:t>Whenever a student answers a question incorrectly, the system records the topic associated with that question.</a:t>
            </a:r>
          </a:p>
          <a:p>
            <a:r>
              <a:rPr lang="en-US" dirty="0"/>
              <a:t>At the end of the quiz, the system analyzes all incorrect answers and counts how many mistakes were made in each topic.</a:t>
            </a:r>
          </a:p>
          <a:p>
            <a:r>
              <a:rPr lang="en-US" dirty="0"/>
              <a:t>Topics with the highest number of incorrect answers are considered the student’s </a:t>
            </a:r>
            <a:r>
              <a:rPr lang="en-US" b="1" dirty="0"/>
              <a:t>weak areas</a:t>
            </a:r>
            <a:r>
              <a:rPr lang="en-US" dirty="0"/>
              <a:t>.</a:t>
            </a:r>
          </a:p>
          <a:p>
            <a:r>
              <a:rPr lang="en-US" dirty="0"/>
              <a:t>These weak topics are then used to generate personalized learning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7024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CBC6-2D32-88A1-48C7-0A802941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D015-3010-850C-A3DA-1E15559F5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the system more helpful, I integrated an AI model using the </a:t>
            </a:r>
            <a:r>
              <a:rPr lang="en-US" b="1" dirty="0" err="1"/>
              <a:t>Groq</a:t>
            </a:r>
            <a:r>
              <a:rPr lang="en-US" b="1" dirty="0"/>
              <a:t> API</a:t>
            </a:r>
            <a:r>
              <a:rPr lang="en-US" dirty="0"/>
              <a:t>.</a:t>
            </a:r>
          </a:p>
          <a:p>
            <a:r>
              <a:rPr lang="en-US" dirty="0"/>
              <a:t>Once the quiz is completed, the system sends the student’s performance data to the AI model.</a:t>
            </a:r>
            <a:br>
              <a:rPr lang="en-US" dirty="0"/>
            </a:br>
            <a:r>
              <a:rPr lang="en-US" dirty="0"/>
              <a:t>This data includes the weak topics and the difficulty levels reached during the quiz.</a:t>
            </a:r>
          </a:p>
          <a:p>
            <a:r>
              <a:rPr lang="en-US" dirty="0"/>
              <a:t>The AI model analyzes this information and generates a short </a:t>
            </a:r>
            <a:r>
              <a:rPr lang="en-US" b="1" dirty="0"/>
              <a:t>three-step study plan</a:t>
            </a:r>
            <a:r>
              <a:rPr lang="en-US" dirty="0"/>
              <a:t> that helps the student improve in the areas where they struggled the most.</a:t>
            </a:r>
          </a:p>
          <a:p>
            <a:r>
              <a:rPr lang="en-US" dirty="0"/>
              <a:t>This allows the system to go beyond just showing quiz results and instead provide meaningful learning guidance.</a:t>
            </a:r>
          </a:p>
        </p:txBody>
      </p:sp>
    </p:spTree>
    <p:extLst>
      <p:ext uri="{BB962C8B-B14F-4D97-AF65-F5344CB8AC3E}">
        <p14:creationId xmlns:p14="http://schemas.microsoft.com/office/powerpoint/2010/main" val="1395973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CB4E-94C7-9F57-1403-DFA099EE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635E-F62F-D48B-3E6F-175D157E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exposes several API endpoints that allow users to interact with the quiz engine.</a:t>
            </a:r>
          </a:p>
          <a:p>
            <a:r>
              <a:rPr lang="en-US" dirty="0"/>
              <a:t>The </a:t>
            </a:r>
            <a:r>
              <a:rPr lang="en-US" b="1" dirty="0"/>
              <a:t>next question endpoint</a:t>
            </a:r>
            <a:r>
              <a:rPr lang="en-US" dirty="0"/>
              <a:t> retrieves a question based on the student’s current ability score.</a:t>
            </a:r>
          </a:p>
          <a:p>
            <a:r>
              <a:rPr lang="en-US" dirty="0"/>
              <a:t>The </a:t>
            </a:r>
            <a:r>
              <a:rPr lang="en-US" b="1" dirty="0"/>
              <a:t>submit answer endpoint</a:t>
            </a:r>
            <a:r>
              <a:rPr lang="en-US" dirty="0"/>
              <a:t> receives the student’s answer and evaluates whether it is correct or incorrect.</a:t>
            </a:r>
          </a:p>
          <a:p>
            <a:r>
              <a:rPr lang="en-US" dirty="0"/>
              <a:t>Finally, the </a:t>
            </a:r>
            <a:r>
              <a:rPr lang="en-US" b="1" dirty="0"/>
              <a:t>learning plan endpoint</a:t>
            </a:r>
            <a:r>
              <a:rPr lang="en-US" dirty="0"/>
              <a:t> analyzes the student’s performance and returns a personalized study plan generated by the AI model.</a:t>
            </a:r>
          </a:p>
          <a:p>
            <a:r>
              <a:rPr lang="en-US" dirty="0"/>
              <a:t>FastAPI automatically generates interactive API documentation using Swagger, which makes it easy to test these endpoints.</a:t>
            </a:r>
          </a:p>
        </p:txBody>
      </p:sp>
    </p:spTree>
    <p:extLst>
      <p:ext uri="{BB962C8B-B14F-4D97-AF65-F5344CB8AC3E}">
        <p14:creationId xmlns:p14="http://schemas.microsoft.com/office/powerpoint/2010/main" val="356559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F9DF-FD2D-37EB-DE1F-45EAD114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API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0003-D582-66DF-DBA6-ED5D3FE79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system returns a question, it includes the question text and the available answer options.</a:t>
            </a:r>
          </a:p>
          <a:p>
            <a:r>
              <a:rPr lang="en-US" dirty="0"/>
              <a:t>After the student submits an answer, the system returns a response indicating whether the answer was correct and the topic associated with that question.</a:t>
            </a:r>
          </a:p>
          <a:p>
            <a:r>
              <a:rPr lang="en-US" dirty="0"/>
              <a:t>These responses allow the frontend or testing interface to display results to the user and update the quiz flow accordingly.</a:t>
            </a:r>
          </a:p>
        </p:txBody>
      </p:sp>
    </p:spTree>
    <p:extLst>
      <p:ext uri="{BB962C8B-B14F-4D97-AF65-F5344CB8AC3E}">
        <p14:creationId xmlns:p14="http://schemas.microsoft.com/office/powerpoint/2010/main" val="255773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9A73-0B46-C662-A243-DB38182D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AF4D4-F130-B6CC-7C43-58C569611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demonstration, I will show how the system works in practice.</a:t>
            </a:r>
          </a:p>
          <a:p>
            <a:r>
              <a:rPr lang="en-US" dirty="0"/>
              <a:t>First, I will show the MongoDB database containing the quiz questions.</a:t>
            </a:r>
          </a:p>
          <a:p>
            <a:r>
              <a:rPr lang="en-US" dirty="0"/>
              <a:t>Next, I will start the FastAPI server and open the API documentation page.</a:t>
            </a:r>
          </a:p>
          <a:p>
            <a:r>
              <a:rPr lang="en-US" dirty="0"/>
              <a:t>From there, I will demonstrate how the endpoints work by requesting questions and submitting answers.</a:t>
            </a:r>
          </a:p>
          <a:p>
            <a:r>
              <a:rPr lang="en-US" dirty="0"/>
              <a:t>Finally, I will show how the system generates a personalized learning plan using the AI model based on the student’s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55946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A48C-F4CB-DB15-EF6B-19D0EFBFDD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43000"/>
            <a:ext cx="2835275" cy="237807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C347FF-42B8-A120-BABE-A8E32A5B1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596"/>
            <a:ext cx="12192000" cy="59668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A8C3C7-9CB6-80E9-90FB-3C58BC7F64E7}"/>
                  </a:ext>
                </a:extLst>
              </p14:cNvPr>
              <p14:cNvContentPartPr/>
              <p14:nvPr/>
            </p14:nvContentPartPr>
            <p14:xfrm>
              <a:off x="1151421" y="2013161"/>
              <a:ext cx="10256498" cy="297066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A8C3C7-9CB6-80E9-90FB-3C58BC7F6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5301" y="2007040"/>
                <a:ext cx="10268738" cy="2982909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475600C-CF4E-53FB-9C4D-C020E4ADDE45}"/>
              </a:ext>
            </a:extLst>
          </p:cNvPr>
          <p:cNvSpPr txBox="1"/>
          <p:nvPr/>
        </p:nvSpPr>
        <p:spPr>
          <a:xfrm>
            <a:off x="5256055" y="4588332"/>
            <a:ext cx="3134089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accent6"/>
                </a:solidFill>
              </a:rPr>
              <a:t>HomePage</a:t>
            </a:r>
            <a:r>
              <a:rPr lang="en-US" sz="1200" dirty="0">
                <a:solidFill>
                  <a:schemeClr val="accent6"/>
                </a:solidFill>
              </a:rPr>
              <a:t> – Adaptive GRE practice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18032A-C601-4D0B-8A30-24D592D3C80C}"/>
              </a:ext>
            </a:extLst>
          </p:cNvPr>
          <p:cNvCxnSpPr>
            <a:cxnSpLocks/>
          </p:cNvCxnSpPr>
          <p:nvPr/>
        </p:nvCxnSpPr>
        <p:spPr>
          <a:xfrm flipH="1" flipV="1">
            <a:off x="4704623" y="3245771"/>
            <a:ext cx="1905581" cy="123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398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9872E-E813-8442-B905-65BD94D7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725"/>
            <a:ext cx="12192000" cy="62365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6F799F-0F37-834D-DABB-9083C094E410}"/>
              </a:ext>
            </a:extLst>
          </p:cNvPr>
          <p:cNvSpPr/>
          <p:nvPr/>
        </p:nvSpPr>
        <p:spPr>
          <a:xfrm>
            <a:off x="604800" y="2696400"/>
            <a:ext cx="1800000" cy="720000"/>
          </a:xfrm>
          <a:prstGeom prst="rect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9F5EC7-35AD-652A-FD78-EA5605D75783}"/>
                  </a:ext>
                </a:extLst>
              </p14:cNvPr>
              <p14:cNvContentPartPr/>
              <p14:nvPr/>
            </p14:nvContentPartPr>
            <p14:xfrm>
              <a:off x="1737910" y="4299598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9F5EC7-35AD-652A-FD78-EA5605D757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1790" y="429347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36FA51B-5B3B-D626-AEBA-D91154BC1FE8}"/>
                  </a:ext>
                </a:extLst>
              </p14:cNvPr>
              <p14:cNvContentPartPr/>
              <p14:nvPr/>
            </p14:nvContentPartPr>
            <p14:xfrm>
              <a:off x="-676970" y="1696078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36FA51B-5B3B-D626-AEBA-D91154BC1F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83090" y="168995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6D2FC9-4F70-E7E0-6FCD-33F3DD32CAED}"/>
                  </a:ext>
                </a:extLst>
              </p14:cNvPr>
              <p14:cNvContentPartPr/>
              <p14:nvPr/>
            </p14:nvContentPartPr>
            <p14:xfrm>
              <a:off x="1884430" y="2889478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6D2FC9-4F70-E7E0-6FCD-33F3DD32CA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8310" y="288335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C1645F3-5D31-FE02-4536-65D0F1CB04F2}"/>
              </a:ext>
            </a:extLst>
          </p:cNvPr>
          <p:cNvSpPr/>
          <p:nvPr/>
        </p:nvSpPr>
        <p:spPr>
          <a:xfrm>
            <a:off x="2451960" y="2743200"/>
            <a:ext cx="9540000" cy="3060000"/>
          </a:xfrm>
          <a:prstGeom prst="rect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EA12539-385C-94DC-2804-23F845F1300B}"/>
                  </a:ext>
                </a:extLst>
              </p14:cNvPr>
              <p14:cNvContentPartPr/>
              <p14:nvPr/>
            </p14:nvContentPartPr>
            <p14:xfrm>
              <a:off x="8334190" y="2373238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EA12539-385C-94DC-2804-23F845F130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28070" y="236711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F3321F5-520F-EFDF-A025-2D10307C35F3}"/>
              </a:ext>
            </a:extLst>
          </p:cNvPr>
          <p:cNvSpPr/>
          <p:nvPr/>
        </p:nvSpPr>
        <p:spPr>
          <a:xfrm>
            <a:off x="8794980" y="2326680"/>
            <a:ext cx="1080000" cy="360000"/>
          </a:xfrm>
          <a:prstGeom prst="rect">
            <a:avLst/>
          </a:prstGeom>
          <a:solidFill>
            <a:srgbClr val="E71224">
              <a:alpha val="5000"/>
            </a:srgbClr>
          </a:solidFill>
          <a:ln w="126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4AEF4A-341F-A9A8-70FA-B999D74E6448}"/>
                  </a:ext>
                </a:extLst>
              </p14:cNvPr>
              <p14:cNvContentPartPr/>
              <p14:nvPr/>
            </p14:nvContentPartPr>
            <p14:xfrm>
              <a:off x="7740910" y="2359198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4AEF4A-341F-A9A8-70FA-B999D74E64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790" y="235307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F61B040-48F9-4CD7-4E3C-6441F1C8B91E}"/>
              </a:ext>
            </a:extLst>
          </p:cNvPr>
          <p:cNvSpPr txBox="1"/>
          <p:nvPr/>
        </p:nvSpPr>
        <p:spPr>
          <a:xfrm>
            <a:off x="7670209" y="5895803"/>
            <a:ext cx="2960564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Sample GRE Questions with options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A1C6C4-EF9C-CCB7-3038-379A244DBB1E}"/>
              </a:ext>
            </a:extLst>
          </p:cNvPr>
          <p:cNvCxnSpPr>
            <a:cxnSpLocks/>
          </p:cNvCxnSpPr>
          <p:nvPr/>
        </p:nvCxnSpPr>
        <p:spPr>
          <a:xfrm flipH="1" flipV="1">
            <a:off x="6470602" y="4955908"/>
            <a:ext cx="1018123" cy="107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932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98072-03FC-30F6-4CD4-16F36726C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458"/>
            <a:ext cx="12192000" cy="61650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9EAEB0-B272-25C7-9B0A-B01920864576}"/>
                  </a:ext>
                </a:extLst>
              </p14:cNvPr>
              <p14:cNvContentPartPr/>
              <p14:nvPr/>
            </p14:nvContentPartPr>
            <p14:xfrm>
              <a:off x="536230" y="2711278"/>
              <a:ext cx="1022040" cy="65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9EAEB0-B272-25C7-9B0A-B019208645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110" y="2705158"/>
                <a:ext cx="103428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BF98CD7-00E1-68ED-97D2-4FCF3634A61F}"/>
                  </a:ext>
                </a:extLst>
              </p14:cNvPr>
              <p14:cNvContentPartPr/>
              <p14:nvPr/>
            </p14:nvContentPartPr>
            <p14:xfrm>
              <a:off x="2647270" y="2715958"/>
              <a:ext cx="9378720" cy="3144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BF98CD7-00E1-68ED-97D2-4FCF3634A6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1150" y="2709838"/>
                <a:ext cx="9390960" cy="31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7224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2E78B-17D8-1C4A-2D3E-170407A24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286"/>
            <a:ext cx="12192000" cy="62414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974199-8640-80F5-D987-C6FBDE55A388}"/>
                  </a:ext>
                </a:extLst>
              </p14:cNvPr>
              <p14:cNvContentPartPr/>
              <p14:nvPr/>
            </p14:nvContentPartPr>
            <p14:xfrm>
              <a:off x="125470" y="64883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974199-8640-80F5-D987-C6FBDE55A3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350" y="64271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05929C-9E3A-A744-A5CA-195701BEA072}"/>
              </a:ext>
            </a:extLst>
          </p:cNvPr>
          <p:cNvSpPr txBox="1"/>
          <p:nvPr/>
        </p:nvSpPr>
        <p:spPr>
          <a:xfrm>
            <a:off x="4955908" y="970241"/>
            <a:ext cx="1922065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Start Session -  UI _ FastAPI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0278C7-AD2E-D309-B33C-E6C1ACFD5167}"/>
              </a:ext>
            </a:extLst>
          </p:cNvPr>
          <p:cNvCxnSpPr/>
          <p:nvPr/>
        </p:nvCxnSpPr>
        <p:spPr>
          <a:xfrm flipH="1" flipV="1">
            <a:off x="3880965" y="781777"/>
            <a:ext cx="893459" cy="32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B81F0D-9919-9C73-358A-58E9E15EE9AF}"/>
              </a:ext>
            </a:extLst>
          </p:cNvPr>
          <p:cNvSpPr txBox="1"/>
          <p:nvPr/>
        </p:nvSpPr>
        <p:spPr>
          <a:xfrm>
            <a:off x="5339816" y="4516172"/>
            <a:ext cx="841897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Session ID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98FB15-45FC-B334-4557-3922FFC7820A}"/>
              </a:ext>
            </a:extLst>
          </p:cNvPr>
          <p:cNvCxnSpPr>
            <a:cxnSpLocks/>
          </p:cNvCxnSpPr>
          <p:nvPr/>
        </p:nvCxnSpPr>
        <p:spPr>
          <a:xfrm flipH="1" flipV="1">
            <a:off x="4376555" y="4572006"/>
            <a:ext cx="872520" cy="82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E6C129D-F82B-6BE5-03D2-33C6532F6578}"/>
                  </a:ext>
                </a:extLst>
              </p14:cNvPr>
              <p14:cNvContentPartPr/>
              <p14:nvPr/>
            </p14:nvContentPartPr>
            <p14:xfrm>
              <a:off x="2628190" y="4427038"/>
              <a:ext cx="1926720" cy="288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E6C129D-F82B-6BE5-03D2-33C6532F65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2070" y="4420918"/>
                <a:ext cx="1938960" cy="3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5238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A5A80-BFC1-C254-2C58-76317969E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10"/>
            <a:ext cx="12192000" cy="6162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F08DA-239E-BA97-F613-B144AECCF7A3}"/>
              </a:ext>
            </a:extLst>
          </p:cNvPr>
          <p:cNvSpPr txBox="1"/>
          <p:nvPr/>
        </p:nvSpPr>
        <p:spPr>
          <a:xfrm>
            <a:off x="5451498" y="1235482"/>
            <a:ext cx="2204771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Question/Session -  UI _ FastAPI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09A1B2-0E29-61C5-9486-44AD6B093E79}"/>
              </a:ext>
            </a:extLst>
          </p:cNvPr>
          <p:cNvCxnSpPr/>
          <p:nvPr/>
        </p:nvCxnSpPr>
        <p:spPr>
          <a:xfrm flipH="1" flipV="1">
            <a:off x="4376555" y="1047018"/>
            <a:ext cx="893459" cy="32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04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B487D-2920-BEC9-DD7D-C0CBEAC4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898"/>
            <a:ext cx="12192000" cy="61222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3234BC-A4D2-207B-BF66-5CC4864CC32E}"/>
              </a:ext>
            </a:extLst>
          </p:cNvPr>
          <p:cNvSpPr txBox="1"/>
          <p:nvPr/>
        </p:nvSpPr>
        <p:spPr>
          <a:xfrm>
            <a:off x="5074571" y="1005142"/>
            <a:ext cx="2436073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Answer Submission -  UI _ FastAPI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9F83F2-3D33-69F0-34D4-C638D3EE5B5A}"/>
              </a:ext>
            </a:extLst>
          </p:cNvPr>
          <p:cNvCxnSpPr>
            <a:cxnSpLocks/>
          </p:cNvCxnSpPr>
          <p:nvPr/>
        </p:nvCxnSpPr>
        <p:spPr>
          <a:xfrm flipH="1" flipV="1">
            <a:off x="3950766" y="872519"/>
            <a:ext cx="942321" cy="27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2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5F619-1B29-EE30-2AB9-E353B6DE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967"/>
            <a:ext cx="12192000" cy="6146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030930-0700-35DD-4F4F-7D1C1122C02C}"/>
              </a:ext>
            </a:extLst>
          </p:cNvPr>
          <p:cNvSpPr txBox="1"/>
          <p:nvPr/>
        </p:nvSpPr>
        <p:spPr>
          <a:xfrm>
            <a:off x="3985666" y="1319244"/>
            <a:ext cx="1999073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Session ID &amp; Option Selector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E5D373-CEF7-CF36-6173-8656A8BF6A2A}"/>
              </a:ext>
            </a:extLst>
          </p:cNvPr>
          <p:cNvCxnSpPr/>
          <p:nvPr/>
        </p:nvCxnSpPr>
        <p:spPr>
          <a:xfrm flipH="1" flipV="1">
            <a:off x="2910723" y="1130780"/>
            <a:ext cx="893459" cy="32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573734-BC14-0BD4-D9A0-2BAFB5C83AC5}"/>
              </a:ext>
            </a:extLst>
          </p:cNvPr>
          <p:cNvSpPr txBox="1"/>
          <p:nvPr/>
        </p:nvSpPr>
        <p:spPr>
          <a:xfrm>
            <a:off x="4683681" y="5793522"/>
            <a:ext cx="1164421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Answer Detail’s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FA06D2-D15B-9F70-34DC-DE7608830700}"/>
              </a:ext>
            </a:extLst>
          </p:cNvPr>
          <p:cNvCxnSpPr/>
          <p:nvPr/>
        </p:nvCxnSpPr>
        <p:spPr>
          <a:xfrm flipH="1" flipV="1">
            <a:off x="3608738" y="5605058"/>
            <a:ext cx="893459" cy="32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1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D630B-BE39-252F-9484-51B741F67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579"/>
            <a:ext cx="12192000" cy="62508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157CDA-9C7A-5D59-2650-E53728BB9560}"/>
              </a:ext>
            </a:extLst>
          </p:cNvPr>
          <p:cNvSpPr txBox="1"/>
          <p:nvPr/>
        </p:nvSpPr>
        <p:spPr>
          <a:xfrm>
            <a:off x="5081551" y="4048486"/>
            <a:ext cx="2204771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LLM generated learning_plan @ GroqAPI’s</a:t>
            </a:r>
            <a:endParaRPr lang="en-IN" sz="1200" dirty="0">
              <a:solidFill>
                <a:schemeClr val="accent6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70D9F1-C820-A663-5CE5-DA62415CBAF7}"/>
              </a:ext>
            </a:extLst>
          </p:cNvPr>
          <p:cNvCxnSpPr>
            <a:cxnSpLocks/>
          </p:cNvCxnSpPr>
          <p:nvPr/>
        </p:nvCxnSpPr>
        <p:spPr>
          <a:xfrm flipH="1">
            <a:off x="3873985" y="4298665"/>
            <a:ext cx="1060982" cy="713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882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353E-7EDE-9BA0-EDA0-F9B1DB14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Tools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FB3A7F-6D05-0A44-BD3D-3698F01EB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OpenAI ChatGPT as a coding assistant for generating FastAPI code, structuring modules, and debugging issues.</a:t>
            </a:r>
          </a:p>
          <a:p>
            <a:r>
              <a:rPr lang="en-IN" dirty="0"/>
              <a:t>Integrated Groq API (Grok model) to generate personalized learning plans based on weak topics.</a:t>
            </a:r>
          </a:p>
          <a:p>
            <a:r>
              <a:rPr lang="en-IN" dirty="0"/>
              <a:t>AI tools helped speed up development, but debugging, testing the adaptive logic, and system design decisions were handled manually.</a:t>
            </a:r>
          </a:p>
        </p:txBody>
      </p:sp>
    </p:spTree>
    <p:extLst>
      <p:ext uri="{BB962C8B-B14F-4D97-AF65-F5344CB8AC3E}">
        <p14:creationId xmlns:p14="http://schemas.microsoft.com/office/powerpoint/2010/main" val="2593747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DE2D-1DED-87F5-1BCC-18877CC4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E1C3-705F-4514-5B16-8C721B98D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this prototype works well, there are several ways it could be improved.</a:t>
            </a:r>
          </a:p>
          <a:p>
            <a:r>
              <a:rPr lang="en-US" dirty="0"/>
              <a:t>One improvement would be implementing a more advanced </a:t>
            </a:r>
            <a:r>
              <a:rPr lang="en-US" b="1" dirty="0"/>
              <a:t>Item Response Theory (IRT)</a:t>
            </a:r>
            <a:r>
              <a:rPr lang="en-US" dirty="0"/>
              <a:t> model to estimate student ability more accurately.</a:t>
            </a:r>
          </a:p>
          <a:p>
            <a:r>
              <a:rPr lang="en-US" dirty="0"/>
              <a:t>Another improvement would be storing long-term user performance data so that the system can track progress over time.</a:t>
            </a:r>
          </a:p>
          <a:p>
            <a:r>
              <a:rPr lang="en-US" dirty="0"/>
              <a:t>Additional features such as user authentication, a frontend dashboard, and advanced analytics could also make the system more powerful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2007394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5015-7BCE-90F1-D5D5-7F50D48E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03C1-E0D0-D6AF-7051-C6A51F521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adaptive algorithms and AI can be combined to build smarter learning systems.</a:t>
            </a:r>
          </a:p>
          <a:p>
            <a:r>
              <a:rPr lang="en-US" dirty="0"/>
              <a:t>By dynamically adjusting question difficulty and analyzing student performance, the system can estimate ability levels more accurately than traditional quizzes.</a:t>
            </a:r>
          </a:p>
          <a:p>
            <a:r>
              <a:rPr lang="en-US" dirty="0"/>
              <a:t>The integration of an AI model further enhances the system by providing personalized study recommendations.</a:t>
            </a:r>
          </a:p>
          <a:p>
            <a:r>
              <a:rPr lang="en-US" dirty="0"/>
              <a:t>Overall, this prototype shows how technology can be used to create more effective and personalized educational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271403933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{14F6FBA6-F8E2-4BA8-92FE-4DE19533EE39}TF5b254a55-10e1-4643-bbf8-937ce7de93d8c0d90256-2070aae5d615</Template>
  <TotalTime>115</TotalTime>
  <Words>1521</Words>
  <Application>Microsoft Office PowerPoint</Application>
  <PresentationFormat>Widescreen</PresentationFormat>
  <Paragraphs>96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Corbel</vt:lpstr>
      <vt:lpstr>Wingdings 2</vt:lpstr>
      <vt:lpstr>Frame</vt:lpstr>
      <vt:lpstr>AI-Driven Adaptive Diagnostic Engine 1-Dimensional Adaptive Testing Prototype</vt:lpstr>
      <vt:lpstr>Problem Statement</vt:lpstr>
      <vt:lpstr>System Overview</vt:lpstr>
      <vt:lpstr>Tech Stack</vt:lpstr>
      <vt:lpstr>Database Design</vt:lpstr>
      <vt:lpstr>User Session Model</vt:lpstr>
      <vt:lpstr>Adaptive Algorithm</vt:lpstr>
      <vt:lpstr>Adaptive Algorithm Flow</vt:lpstr>
      <vt:lpstr>Weak Topic Detection</vt:lpstr>
      <vt:lpstr>AI Integration</vt:lpstr>
      <vt:lpstr>API Design</vt:lpstr>
      <vt:lpstr>Example API Response</vt:lpstr>
      <vt:lpstr>Demo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Tools Used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krbhalani55@gmail.com</dc:creator>
  <cp:lastModifiedBy>krbhalani55@gmail.com</cp:lastModifiedBy>
  <cp:revision>1</cp:revision>
  <dcterms:created xsi:type="dcterms:W3CDTF">2026-03-10T12:36:29Z</dcterms:created>
  <dcterms:modified xsi:type="dcterms:W3CDTF">2026-03-10T14:31:30Z</dcterms:modified>
</cp:coreProperties>
</file>